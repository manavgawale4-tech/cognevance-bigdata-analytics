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13D"/>
    <a:srgbClr val="00B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84A5-7C5F-4499-B3EA-5C038D3E7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9EB7A-AD95-890A-BAA2-568729A8B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F2A2D-8021-556C-6F52-922D92AF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477EF-88C2-6BCB-3D3F-56A39E21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950AA-C88B-8706-372D-56AEDE6F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35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9BC3-4FB8-54C3-B102-4B958130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A92BF-B342-27C0-C3BA-CF776ED18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3A2D-2AE6-8B85-2929-EE72AA37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5BAEB-44A2-446D-F0DA-F865658B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7C044-7E8F-FB8F-753F-ADCECAD9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71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82EF-EAED-1A3F-C120-B1595730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2803C-870E-93F2-1CDB-04DED3F0E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91035-3DA3-1ED4-98EE-31C04804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84020-019D-5528-DDEB-FBF40F824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AFDAC-B3EC-7788-E429-0EC9250B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9574-FC38-DDB3-2E7A-E51AE92C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269B5-FB7D-B43B-9815-CABAB88C5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66EB7-5D6B-C20A-43B2-C9A88FA1D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797E1-94F7-3D58-65FB-79A161C3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DD2EB-470C-179E-2FCD-FFB55307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0DE15-7791-CDAC-0C45-9D6156A87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28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BC1C-B4F7-99A1-C01B-F9176EF65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E806D-021F-D269-0808-1DD772B2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BDDE1-EF37-9C1E-D689-81C9E5DA3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BC197-1D69-0E8C-6353-4751EC8D7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CFDC4-CFDC-3CF6-CFD6-806565421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324716-9081-D200-0893-29E94932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F270A-66EE-FA17-FCA9-26DBFABF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29570-01E1-9125-0D21-23F895A58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62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7D3A-C4D6-D2EF-7E4F-37648936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87C55-7DC1-C75F-58A9-68B73F0B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F8FFF-79E9-198A-21FB-9EADD99C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4B09A-A88E-4EAB-F69B-731C6018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91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46DBF-151C-0AB6-313B-E47A7953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55693-4BDC-961E-B464-A392158F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A504E-70D9-A6FF-83D2-5B843D01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72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FE16-6401-23DC-AE18-0A0DBC4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E59AC-AEEA-14B8-1342-DB24E1071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3163A-2D80-AB84-9AD2-EE042E26B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D4811-6B99-986A-244B-911DDF97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9AC60-0669-0396-1ACD-D1A00B49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B2AD4-FBF7-976D-F059-659524A4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4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1CB9-9A5D-B44B-81C3-3754BA9B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785F1-1614-77AE-9D5C-1A3DF62DA99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7AECF-CC96-46C3-071F-A6E46B7E6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C6DE8-5D65-A176-7A55-D036AD739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65983-60E8-C724-8C7B-640CFAA6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9E657-510E-73C6-A3C5-ACF692A6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07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25B5-AC02-C708-7593-AF99A7E8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05441-E8A2-575F-6D03-6DE5A9249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59D49-EE66-4656-53B7-2E552DD0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DC3C5-05B9-5729-11DA-BAAA1426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8FC5A-052E-061F-22BE-30FBB54D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61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897D50-B411-7DBD-B550-74C4B58D0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8A17B-37B4-EC84-F441-D5F53094E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E332-487B-AF25-A3C8-2CD24CD8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913CA-6E18-07A4-6E90-FEE7C9B4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6E52-AD0A-EE87-3A29-04D5AA30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407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18FE4-4B81-F967-C49D-BA9FFE2C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06D06-A4F6-FE79-19FD-9F346534D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D1F52-2EDE-355C-B4A8-F82454AC7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D45BB-541D-4B62-BD54-186F56F5206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5F3C-A99D-9D00-26CC-D93294739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DBD27-9B8A-8B85-85B7-2AB8DBAFF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A56DB-6655-4C1D-A343-21AA2C16A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75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9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61EF-DB00-60E4-234C-14442E976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49" y="51696"/>
            <a:ext cx="9763432" cy="246536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E-Commerce</a:t>
            </a:r>
            <a:r>
              <a:rPr lang="en-IN" sz="3200" b="1" dirty="0"/>
              <a:t> </a:t>
            </a:r>
            <a:r>
              <a:rPr lang="en-IN" sz="3200" b="1" dirty="0">
                <a:solidFill>
                  <a:schemeClr val="bg1"/>
                </a:solidFill>
              </a:rPr>
              <a:t>Customer Analytics &amp; Predictive Intelligence</a:t>
            </a:r>
            <a:br>
              <a:rPr lang="en-IN" sz="3200" b="1" dirty="0"/>
            </a:b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CCEF0-A153-4BE1-A7E1-4FD207DD0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303" y="3028335"/>
            <a:ext cx="10392697" cy="2229465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1" dirty="0">
                <a:solidFill>
                  <a:srgbClr val="00B4A2"/>
                </a:solidFill>
              </a:rPr>
              <a:t>Level 3 </a:t>
            </a:r>
            <a:r>
              <a:rPr lang="en-IN" dirty="0">
                <a:solidFill>
                  <a:srgbClr val="00B4A2"/>
                </a:solidFill>
              </a:rPr>
              <a:t>– </a:t>
            </a:r>
            <a:r>
              <a:rPr lang="en-IN" sz="2000" b="1" dirty="0">
                <a:solidFill>
                  <a:srgbClr val="00B4A2"/>
                </a:solidFill>
              </a:rPr>
              <a:t>Advanced Project</a:t>
            </a:r>
          </a:p>
          <a:p>
            <a:pPr algn="l"/>
            <a:r>
              <a:rPr lang="en-IN" dirty="0" err="1">
                <a:solidFill>
                  <a:srgbClr val="00B4A2"/>
                </a:solidFill>
              </a:rPr>
              <a:t>Cognevance</a:t>
            </a:r>
            <a:r>
              <a:rPr lang="en-IN" dirty="0">
                <a:solidFill>
                  <a:srgbClr val="00B4A2"/>
                </a:solidFill>
              </a:rPr>
              <a:t> Technologies</a:t>
            </a:r>
          </a:p>
          <a:p>
            <a:pPr algn="l"/>
            <a:r>
              <a:rPr lang="en-IN" b="1" dirty="0">
                <a:solidFill>
                  <a:srgbClr val="00B4A2"/>
                </a:solidFill>
              </a:rPr>
              <a:t>Datase</a:t>
            </a:r>
            <a:r>
              <a:rPr lang="en-IN" dirty="0">
                <a:solidFill>
                  <a:srgbClr val="00B4A2"/>
                </a:solidFill>
              </a:rPr>
              <a:t>t: </a:t>
            </a:r>
            <a:r>
              <a:rPr lang="en-IN" dirty="0" err="1">
                <a:solidFill>
                  <a:srgbClr val="00B4A2"/>
                </a:solidFill>
              </a:rPr>
              <a:t>Olist</a:t>
            </a:r>
            <a:r>
              <a:rPr lang="en-IN" dirty="0">
                <a:solidFill>
                  <a:srgbClr val="00B4A2"/>
                </a:solidFill>
              </a:rPr>
              <a:t> Brazilian E-Commerce Public Dataset</a:t>
            </a:r>
          </a:p>
          <a:p>
            <a:pPr algn="l"/>
            <a:r>
              <a:rPr lang="en-IN" dirty="0">
                <a:solidFill>
                  <a:srgbClr val="00B4A2"/>
                </a:solidFill>
              </a:rPr>
              <a:t>Python | SQL | </a:t>
            </a:r>
            <a:r>
              <a:rPr lang="en-IN" dirty="0" err="1">
                <a:solidFill>
                  <a:srgbClr val="00B4A2"/>
                </a:solidFill>
              </a:rPr>
              <a:t>PySpark</a:t>
            </a:r>
            <a:r>
              <a:rPr lang="en-IN" dirty="0">
                <a:solidFill>
                  <a:srgbClr val="00B4A2"/>
                </a:solidFill>
              </a:rPr>
              <a:t> | Machine Learning | </a:t>
            </a:r>
            <a:r>
              <a:rPr lang="en-IN" dirty="0" err="1">
                <a:solidFill>
                  <a:srgbClr val="00B4A2"/>
                </a:solidFill>
              </a:rPr>
              <a:t>Streamlit</a:t>
            </a:r>
            <a:endParaRPr lang="en-IN" dirty="0">
              <a:solidFill>
                <a:srgbClr val="00B4A2"/>
              </a:solidFill>
            </a:endParaRPr>
          </a:p>
          <a:p>
            <a:pPr algn="l"/>
            <a:r>
              <a:rPr lang="en-IN" b="1" dirty="0">
                <a:solidFill>
                  <a:srgbClr val="00B4A2"/>
                </a:solidFill>
              </a:rPr>
              <a:t>Prepared by</a:t>
            </a:r>
            <a:r>
              <a:rPr lang="en-IN" dirty="0">
                <a:solidFill>
                  <a:srgbClr val="00B4A2"/>
                </a:solidFill>
              </a:rPr>
              <a:t>: Manav </a:t>
            </a:r>
            <a:r>
              <a:rPr lang="en-IN" dirty="0" err="1">
                <a:solidFill>
                  <a:srgbClr val="00B4A2"/>
                </a:solidFill>
              </a:rPr>
              <a:t>Gawale</a:t>
            </a:r>
            <a:endParaRPr lang="en-IN" dirty="0">
              <a:solidFill>
                <a:srgbClr val="00B4A2"/>
              </a:solidFill>
            </a:endParaRPr>
          </a:p>
          <a:p>
            <a:pPr algn="l"/>
            <a:endParaRPr lang="en-IN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D9915F-E8A2-8106-583B-B59C4718FB2C}"/>
              </a:ext>
            </a:extLst>
          </p:cNvPr>
          <p:cNvCxnSpPr/>
          <p:nvPr/>
        </p:nvCxnSpPr>
        <p:spPr>
          <a:xfrm>
            <a:off x="0" y="263504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64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652C-9E1E-4E82-3875-2BD955BF8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002060"/>
                </a:solidFill>
              </a:rPr>
              <a:t>Project Overview</a:t>
            </a:r>
            <a:br>
              <a:rPr lang="en-IN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BD771-B197-759C-49A5-A04D062F3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1825625"/>
            <a:ext cx="11225981" cy="4667250"/>
          </a:xfrm>
        </p:spPr>
        <p:txBody>
          <a:bodyPr/>
          <a:lstStyle/>
          <a:p>
            <a:r>
              <a:rPr lang="en-IN" sz="2400" dirty="0">
                <a:solidFill>
                  <a:srgbClr val="14213D"/>
                </a:solidFill>
              </a:rPr>
              <a:t>An e-commerce analytics project using the </a:t>
            </a:r>
            <a:r>
              <a:rPr lang="en-IN" sz="2400" dirty="0" err="1">
                <a:solidFill>
                  <a:srgbClr val="14213D"/>
                </a:solidFill>
              </a:rPr>
              <a:t>Olist</a:t>
            </a:r>
            <a:r>
              <a:rPr lang="en-IN" sz="2400" dirty="0">
                <a:solidFill>
                  <a:srgbClr val="14213D"/>
                </a:solidFill>
              </a:rPr>
              <a:t> Brazilian E-Commerce dataset.</a:t>
            </a:r>
          </a:p>
          <a:p>
            <a:r>
              <a:rPr lang="en-IN" sz="2400" dirty="0">
                <a:solidFill>
                  <a:srgbClr val="14213D"/>
                </a:solidFill>
              </a:rPr>
              <a:t> </a:t>
            </a:r>
            <a:r>
              <a:rPr lang="en-IN" sz="2400" dirty="0" err="1">
                <a:solidFill>
                  <a:srgbClr val="14213D"/>
                </a:solidFill>
              </a:rPr>
              <a:t>Analyzes</a:t>
            </a:r>
            <a:r>
              <a:rPr lang="en-IN" sz="2400" dirty="0">
                <a:solidFill>
                  <a:srgbClr val="14213D"/>
                </a:solidFill>
              </a:rPr>
              <a:t> sales, customer </a:t>
            </a:r>
            <a:r>
              <a:rPr lang="en-IN" sz="2400" dirty="0" err="1">
                <a:solidFill>
                  <a:srgbClr val="14213D"/>
                </a:solidFill>
              </a:rPr>
              <a:t>behavior</a:t>
            </a:r>
            <a:r>
              <a:rPr lang="en-IN" sz="2400" dirty="0">
                <a:solidFill>
                  <a:srgbClr val="14213D"/>
                </a:solidFill>
              </a:rPr>
              <a:t>, product categories, and delivery performance.</a:t>
            </a:r>
          </a:p>
          <a:p>
            <a:r>
              <a:rPr lang="en-IN" sz="2400" dirty="0">
                <a:solidFill>
                  <a:srgbClr val="14213D"/>
                </a:solidFill>
              </a:rPr>
              <a:t> Uses Python, SQL, and </a:t>
            </a:r>
            <a:r>
              <a:rPr lang="en-IN" sz="2400" dirty="0" err="1">
                <a:solidFill>
                  <a:srgbClr val="14213D"/>
                </a:solidFill>
              </a:rPr>
              <a:t>PySpark</a:t>
            </a:r>
            <a:r>
              <a:rPr lang="en-IN" sz="2400" dirty="0">
                <a:solidFill>
                  <a:srgbClr val="14213D"/>
                </a:solidFill>
              </a:rPr>
              <a:t> for data processing and analysis.</a:t>
            </a:r>
          </a:p>
          <a:p>
            <a:r>
              <a:rPr lang="en-IN" sz="2400" dirty="0">
                <a:solidFill>
                  <a:srgbClr val="14213D"/>
                </a:solidFill>
              </a:rPr>
              <a:t> Applies Machine Learning to predict delivery time.</a:t>
            </a:r>
          </a:p>
          <a:p>
            <a:r>
              <a:rPr lang="en-IN" sz="2400" dirty="0">
                <a:solidFill>
                  <a:srgbClr val="14213D"/>
                </a:solidFill>
              </a:rPr>
              <a:t>Provides interactive dashboards and business insights to support decision-making</a:t>
            </a:r>
            <a:r>
              <a:rPr lang="en-IN" dirty="0">
                <a:solidFill>
                  <a:srgbClr val="14213D"/>
                </a:solidFill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92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C156-18B5-8E1E-3A6D-DE50965F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Problem Statement &amp; Objectives</a:t>
            </a:r>
            <a:b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IN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D50FA-CB42-DA26-17AF-F046D2EB8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600" b="1" dirty="0"/>
              <a:t>PROBLEM STATEMENT</a:t>
            </a:r>
          </a:p>
          <a:p>
            <a:r>
              <a:rPr lang="en-IN" dirty="0"/>
              <a:t> </a:t>
            </a:r>
            <a:r>
              <a:rPr lang="en-IN" sz="2300" dirty="0"/>
              <a:t>E-commerce businesses generate large amounts of sales and customer data.</a:t>
            </a:r>
          </a:p>
          <a:p>
            <a:r>
              <a:rPr lang="en-IN" sz="2300" dirty="0"/>
              <a:t> Understanding sales trends, customer </a:t>
            </a:r>
            <a:r>
              <a:rPr lang="en-IN" sz="2300" dirty="0" err="1"/>
              <a:t>behavior</a:t>
            </a:r>
            <a:r>
              <a:rPr lang="en-IN" sz="2300" dirty="0"/>
              <a:t>, and delivery delays can be challenging.</a:t>
            </a:r>
          </a:p>
          <a:p>
            <a:r>
              <a:rPr lang="en-IN" sz="2300" dirty="0"/>
              <a:t> Data analysis and predictive models can help businesses make informed decisions.</a:t>
            </a:r>
          </a:p>
          <a:p>
            <a:endParaRPr lang="en-IN" sz="2300" dirty="0"/>
          </a:p>
          <a:p>
            <a:pPr marL="0" indent="0">
              <a:buNone/>
            </a:pPr>
            <a:r>
              <a:rPr lang="en-IN" sz="2400" dirty="0"/>
              <a:t>• </a:t>
            </a:r>
            <a:r>
              <a:rPr lang="en-IN" sz="2200" b="1" dirty="0"/>
              <a:t>PROJECT OBJECTIVES</a:t>
            </a:r>
          </a:p>
          <a:p>
            <a:r>
              <a:rPr lang="en-IN" dirty="0"/>
              <a:t> </a:t>
            </a:r>
            <a:r>
              <a:rPr lang="en-IN" sz="1900" dirty="0" err="1"/>
              <a:t>Analyze</a:t>
            </a:r>
            <a:r>
              <a:rPr lang="en-IN" sz="1900" dirty="0"/>
              <a:t> sales trends and product category performance.</a:t>
            </a:r>
          </a:p>
          <a:p>
            <a:r>
              <a:rPr lang="en-IN" sz="1900" dirty="0"/>
              <a:t> Understand customer purchasing and repeat-order </a:t>
            </a:r>
            <a:r>
              <a:rPr lang="en-IN" sz="1900" dirty="0" err="1"/>
              <a:t>behavior</a:t>
            </a:r>
            <a:r>
              <a:rPr lang="en-IN" sz="1900" dirty="0"/>
              <a:t>.</a:t>
            </a:r>
          </a:p>
          <a:p>
            <a:r>
              <a:rPr lang="en-IN" sz="1900" dirty="0"/>
              <a:t> Evaluate delivery performance and identify late deliveries.</a:t>
            </a:r>
          </a:p>
          <a:p>
            <a:r>
              <a:rPr lang="en-IN" sz="1900" dirty="0"/>
              <a:t> Build a Machine Learning model to predict delivery time.</a:t>
            </a:r>
          </a:p>
          <a:p>
            <a:r>
              <a:rPr lang="en-IN" sz="1900" dirty="0"/>
              <a:t>Create interactive dashboards to present business insights.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02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1BD8-4BCF-14C8-4DF7-0AB877957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Dataset Description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0347F-97C7-A69F-58A7-791FAC705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328"/>
            <a:ext cx="10515600" cy="4768645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DATA SOURCE</a:t>
            </a:r>
            <a:br>
              <a:rPr lang="en-IN" dirty="0"/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•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Olist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Brazilian E-Commerce Public Dataset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• Source: Kaggle</a:t>
            </a:r>
          </a:p>
          <a:p>
            <a:endParaRPr lang="en-IN" dirty="0"/>
          </a:p>
          <a:p>
            <a:r>
              <a:rPr lang="en-IN" b="1" dirty="0"/>
              <a:t>DATASET OVERVIEW</a:t>
            </a:r>
            <a:br>
              <a:rPr lang="en-IN" b="1" dirty="0"/>
            </a:br>
            <a:r>
              <a:rPr lang="en-IN" dirty="0"/>
              <a:t>• Contains information about Brazilian e-commerce orders.</a:t>
            </a:r>
            <a:br>
              <a:rPr lang="en-IN" dirty="0"/>
            </a:br>
            <a:r>
              <a:rPr lang="en-IN" dirty="0"/>
              <a:t>• Includes order, customer, product, seller, payment, and delivery data.</a:t>
            </a:r>
            <a:br>
              <a:rPr lang="en-IN" dirty="0"/>
            </a:br>
            <a:r>
              <a:rPr lang="en-IN" dirty="0"/>
              <a:t>• Multiple CSV files are used for analysis.</a:t>
            </a:r>
          </a:p>
          <a:p>
            <a:endParaRPr lang="en-IN" dirty="0"/>
          </a:p>
          <a:p>
            <a:r>
              <a:rPr lang="en-IN" b="1" dirty="0"/>
              <a:t>KEY DATA FIELDS</a:t>
            </a:r>
            <a:br>
              <a:rPr lang="en-IN" dirty="0"/>
            </a:br>
            <a:r>
              <a:rPr lang="en-IN" dirty="0"/>
              <a:t>• Order ID and Customer ID</a:t>
            </a:r>
            <a:br>
              <a:rPr lang="en-IN" dirty="0"/>
            </a:br>
            <a:r>
              <a:rPr lang="en-IN" dirty="0"/>
              <a:t>• Product ID and Seller ID</a:t>
            </a:r>
            <a:br>
              <a:rPr lang="en-IN" dirty="0"/>
            </a:br>
            <a:r>
              <a:rPr lang="en-IN" dirty="0"/>
              <a:t>• Price and Freight Value</a:t>
            </a:r>
            <a:br>
              <a:rPr lang="en-IN" dirty="0"/>
            </a:br>
            <a:r>
              <a:rPr lang="en-IN" dirty="0"/>
              <a:t>• Purchase, Delivery, and Review Information</a:t>
            </a:r>
          </a:p>
          <a:p>
            <a:endParaRPr lang="en-IN" dirty="0"/>
          </a:p>
          <a:p>
            <a:r>
              <a:rPr lang="en-IN" b="1" dirty="0"/>
              <a:t>PURPOSE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Analyze</a:t>
            </a:r>
            <a:r>
              <a:rPr lang="en-IN" dirty="0"/>
              <a:t> sales and customer </a:t>
            </a:r>
            <a:r>
              <a:rPr lang="en-IN" dirty="0" err="1"/>
              <a:t>behavior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• Evaluate delivery performance.</a:t>
            </a:r>
            <a:br>
              <a:rPr lang="en-IN" dirty="0"/>
            </a:br>
            <a:r>
              <a:rPr lang="en-IN" dirty="0"/>
              <a:t>• Support predictive analytics and business decisions.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79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F6A9-5A62-908D-098C-F8CAB2B5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rgbClr val="002060"/>
                </a:solidFill>
              </a:rPr>
              <a:t>Technologies Used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FFC63-AEFD-E3FC-667E-989E69DB5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317522"/>
            <a:ext cx="11157155" cy="4395019"/>
          </a:xfrm>
        </p:spPr>
        <p:txBody>
          <a:bodyPr>
            <a:normAutofit lnSpcReduction="10000"/>
          </a:bodyPr>
          <a:lstStyle/>
          <a:p>
            <a:r>
              <a:rPr lang="en-IN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br>
              <a:rPr lang="en-IN" dirty="0"/>
            </a:br>
            <a:r>
              <a:rPr lang="en-IN" sz="1900" dirty="0"/>
              <a:t>Used for data cleaning, analysis, and visualization</a:t>
            </a:r>
            <a:r>
              <a:rPr lang="en-IN" dirty="0"/>
              <a:t>.</a:t>
            </a:r>
          </a:p>
          <a:p>
            <a:r>
              <a:rPr lang="en-IN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</a:t>
            </a:r>
            <a:br>
              <a:rPr lang="en-IN" dirty="0"/>
            </a:br>
            <a:r>
              <a:rPr lang="en-IN" sz="1900" dirty="0"/>
              <a:t>Used to query, filter, and </a:t>
            </a:r>
            <a:r>
              <a:rPr lang="en-IN" sz="1900" dirty="0" err="1"/>
              <a:t>analyze</a:t>
            </a:r>
            <a:r>
              <a:rPr lang="en-IN" sz="1900" dirty="0"/>
              <a:t> structured data</a:t>
            </a:r>
            <a:r>
              <a:rPr lang="en-IN" dirty="0"/>
              <a:t>.</a:t>
            </a:r>
          </a:p>
          <a:p>
            <a:r>
              <a:rPr lang="en-IN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PYSPARK</a:t>
            </a:r>
            <a:br>
              <a:rPr lang="en-IN" dirty="0"/>
            </a:br>
            <a:r>
              <a:rPr lang="en-IN" sz="1900" dirty="0"/>
              <a:t>Used for distributed data processing and large-scale analytics</a:t>
            </a:r>
            <a:r>
              <a:rPr lang="en-IN" dirty="0"/>
              <a:t>.</a:t>
            </a: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MACHINE</a:t>
            </a:r>
            <a:r>
              <a:rPr lang="en-IN" sz="2000" dirty="0"/>
              <a:t> 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LEARNING</a:t>
            </a:r>
            <a:br>
              <a:rPr lang="en-IN" dirty="0"/>
            </a:br>
            <a:r>
              <a:rPr lang="en-IN" sz="1900" dirty="0"/>
              <a:t>Used to build a model for delivery-time prediction.</a:t>
            </a:r>
          </a:p>
          <a:p>
            <a:r>
              <a:rPr lang="en-IN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STREAMLIT</a:t>
            </a:r>
            <a:r>
              <a:rPr lang="en-IN" sz="2000" dirty="0"/>
              <a:t> &amp; </a:t>
            </a:r>
            <a:r>
              <a:rPr lang="en-IN" sz="2000" b="1" dirty="0"/>
              <a:t>PLOTLY</a:t>
            </a:r>
            <a:br>
              <a:rPr lang="en-IN" dirty="0"/>
            </a:br>
            <a:r>
              <a:rPr lang="en-IN" sz="1900" dirty="0"/>
              <a:t>Used to create interactive dashboards and visualizations.</a:t>
            </a:r>
          </a:p>
          <a:p>
            <a:r>
              <a:rPr lang="en-IN" sz="2000" b="1" dirty="0"/>
              <a:t>POWER BI</a:t>
            </a:r>
            <a:br>
              <a:rPr lang="en-IN" dirty="0"/>
            </a:br>
            <a:r>
              <a:rPr lang="en-IN" sz="1800" dirty="0"/>
              <a:t>Used for business intelligence and data reporting.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56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7B28-459B-D602-7418-85497240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7" y="0"/>
            <a:ext cx="10950677" cy="1325563"/>
          </a:xfrm>
        </p:spPr>
        <p:txBody>
          <a:bodyPr>
            <a:normAutofit/>
          </a:bodyPr>
          <a:lstStyle/>
          <a:p>
            <a:r>
              <a:rPr lang="en-IN" sz="2800" b="1" dirty="0"/>
              <a:t>Project Workflow</a:t>
            </a:r>
            <a:br>
              <a:rPr lang="en-IN" sz="2800" b="1" dirty="0"/>
            </a:b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CD70C-1397-3AF4-4953-B5C661096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07" y="1641066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COLLECTION</a:t>
            </a:r>
            <a:br>
              <a:rPr lang="en-IN" dirty="0"/>
            </a:br>
            <a:r>
              <a:rPr lang="en-IN" sz="2200" dirty="0"/>
              <a:t>Collected the </a:t>
            </a:r>
            <a:r>
              <a:rPr lang="en-IN" sz="2200" dirty="0" err="1"/>
              <a:t>Olist</a:t>
            </a:r>
            <a:r>
              <a:rPr lang="en-IN" sz="2200" dirty="0"/>
              <a:t> e-commerce dataset.</a:t>
            </a:r>
          </a:p>
          <a:p>
            <a:pPr lvl="0"/>
            <a:r>
              <a:rPr lang="en-IN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</a:t>
            </a:r>
            <a:r>
              <a:rPr lang="en-IN" dirty="0"/>
              <a:t> </a:t>
            </a:r>
            <a:r>
              <a:rPr lang="en-IN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CLEANING</a:t>
            </a:r>
            <a:br>
              <a:rPr lang="en-IN" dirty="0"/>
            </a:br>
            <a:r>
              <a:rPr lang="en-IN" sz="1900" dirty="0"/>
              <a:t>Prepared and processed the CSV files.</a:t>
            </a:r>
          </a:p>
          <a:p>
            <a:pPr lvl="0"/>
            <a:r>
              <a:rPr lang="en-IN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</a:t>
            </a:r>
            <a:r>
              <a:rPr lang="en-IN" dirty="0"/>
              <a:t> </a:t>
            </a:r>
            <a:r>
              <a:rPr lang="en-IN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</a:t>
            </a:r>
            <a:br>
              <a:rPr lang="en-IN" dirty="0"/>
            </a:br>
            <a:r>
              <a:rPr lang="en-IN" sz="1900" dirty="0" err="1"/>
              <a:t>Analyzed</a:t>
            </a:r>
            <a:r>
              <a:rPr lang="en-IN" sz="1900" dirty="0"/>
              <a:t> sales, customers, products, and delivery performance.</a:t>
            </a:r>
          </a:p>
          <a:p>
            <a:pPr lvl="0"/>
            <a:r>
              <a:rPr lang="en-IN" sz="1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BIG DATA PROCESSING</a:t>
            </a:r>
            <a:br>
              <a:rPr lang="en-IN" dirty="0"/>
            </a:br>
            <a:r>
              <a:rPr lang="en-IN" sz="1800" dirty="0"/>
              <a:t>Used </a:t>
            </a:r>
            <a:r>
              <a:rPr lang="en-IN" sz="1800" dirty="0" err="1"/>
              <a:t>PySpark</a:t>
            </a:r>
            <a:r>
              <a:rPr lang="en-IN" sz="1800" dirty="0"/>
              <a:t> and SQL for data processing and analysis.</a:t>
            </a:r>
          </a:p>
          <a:p>
            <a:pPr lvl="0"/>
            <a:r>
              <a:rPr lang="en-IN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PREDICTIVE MODELING</a:t>
            </a:r>
            <a:br>
              <a:rPr lang="en-IN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sz="1800" dirty="0"/>
              <a:t>Trained a Machine Learning model to predict delivery time.</a:t>
            </a:r>
          </a:p>
          <a:p>
            <a:pPr lvl="0"/>
            <a:r>
              <a:rPr lang="en-IN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DASHBOARD &amp; REPORTING</a:t>
            </a:r>
            <a:br>
              <a:rPr lang="en-IN" dirty="0"/>
            </a:br>
            <a:r>
              <a:rPr lang="en-IN" sz="1800" dirty="0"/>
              <a:t>Presented findings through interactive dashboards and reports.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93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1613-708A-86B9-0922-261D98D68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365125"/>
            <a:ext cx="11147323" cy="114904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Business KPIs &amp; Key Metrics</a:t>
            </a:r>
            <a:br>
              <a:rPr lang="en-IN" sz="2800" dirty="0"/>
            </a:b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D3D1E9-175B-B612-8559-93A06ECF2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627726"/>
              </p:ext>
            </p:extLst>
          </p:nvPr>
        </p:nvGraphicFramePr>
        <p:xfrm>
          <a:off x="206476" y="1740310"/>
          <a:ext cx="11454582" cy="41197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7291">
                  <a:extLst>
                    <a:ext uri="{9D8B030D-6E8A-4147-A177-3AD203B41FA5}">
                      <a16:colId xmlns:a16="http://schemas.microsoft.com/office/drawing/2014/main" val="2434907870"/>
                    </a:ext>
                  </a:extLst>
                </a:gridCol>
                <a:gridCol w="5727291">
                  <a:extLst>
                    <a:ext uri="{9D8B030D-6E8A-4147-A177-3AD203B41FA5}">
                      <a16:colId xmlns:a16="http://schemas.microsoft.com/office/drawing/2014/main" val="1388802924"/>
                    </a:ext>
                  </a:extLst>
                </a:gridCol>
              </a:tblGrid>
              <a:tr h="588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122710"/>
                  </a:ext>
                </a:extLst>
              </a:tr>
              <a:tr h="588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99,441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945475"/>
                  </a:ext>
                </a:extLst>
              </a:tr>
              <a:tr h="588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96,096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584676"/>
                  </a:ext>
                </a:extLst>
              </a:tr>
              <a:tr h="588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Delivered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96,478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834589"/>
                  </a:ext>
                </a:extLst>
              </a:tr>
              <a:tr h="588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Product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BRL 13.22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540699"/>
                  </a:ext>
                </a:extLst>
              </a:tr>
              <a:tr h="588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Delivery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12.56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85297"/>
                  </a:ext>
                </a:extLst>
              </a:tr>
              <a:tr h="588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Repeat-Customer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1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85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9206-D3BE-C3AB-A1AB-8DA59648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96" y="315963"/>
            <a:ext cx="10515600" cy="942565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Sales &amp; Customer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8CA5D-7744-FC6C-A568-442CBCD0E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8"/>
            <a:ext cx="10515600" cy="4918435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SALES PERFORMANCE</a:t>
            </a:r>
            <a:br>
              <a:rPr lang="en-IN" dirty="0"/>
            </a:br>
            <a:r>
              <a:rPr lang="en-IN" sz="2100" dirty="0"/>
              <a:t>•</a:t>
            </a:r>
            <a:r>
              <a:rPr lang="en-IN" dirty="0"/>
              <a:t> </a:t>
            </a:r>
            <a:r>
              <a:rPr lang="en-IN" sz="2100" dirty="0"/>
              <a:t>Recorded revenue increased from 2016 to 2018.</a:t>
            </a:r>
            <a:br>
              <a:rPr lang="en-IN" sz="2100" dirty="0"/>
            </a:br>
            <a:r>
              <a:rPr lang="en-IN" sz="2100" dirty="0"/>
              <a:t>• 2018 recorded the highest yearly revenue in the dataset.</a:t>
            </a:r>
            <a:br>
              <a:rPr lang="en-IN" sz="2100" dirty="0"/>
            </a:br>
            <a:r>
              <a:rPr lang="en-IN" sz="2100" dirty="0"/>
              <a:t>• November 2017 was the peak month, with BRL 987,765 in revenue</a:t>
            </a:r>
            <a:r>
              <a:rPr lang="en-IN" dirty="0"/>
              <a:t>.</a:t>
            </a:r>
          </a:p>
          <a:p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TOP PRODUCT CATEGORIES</a:t>
            </a:r>
            <a:br>
              <a:rPr lang="en-IN" dirty="0"/>
            </a:b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Health &amp; Beauty</a:t>
            </a:r>
            <a:b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Watches &amp; Gifts</a:t>
            </a:r>
            <a:b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Bed Bath Table</a:t>
            </a:r>
            <a:b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Sports &amp; Leisure</a:t>
            </a:r>
            <a:b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Computers &amp; Accessories</a:t>
            </a:r>
          </a:p>
          <a:p>
            <a:r>
              <a:rPr lang="en-IN" sz="1900" b="1" dirty="0"/>
              <a:t>CUSTOMER BEHAVIOR</a:t>
            </a:r>
            <a:br>
              <a:rPr lang="en-IN" sz="1900" dirty="0"/>
            </a:br>
            <a:r>
              <a:rPr lang="en-IN" sz="1900" dirty="0"/>
              <a:t>• 96,096 unique customers were identified.</a:t>
            </a:r>
            <a:br>
              <a:rPr lang="en-IN" sz="1900" dirty="0"/>
            </a:br>
            <a:r>
              <a:rPr lang="en-IN" sz="1900" dirty="0"/>
              <a:t>• 2,801 repeat customers were identified.</a:t>
            </a:r>
            <a:br>
              <a:rPr lang="en-IN" sz="1900" dirty="0"/>
            </a:br>
            <a:r>
              <a:rPr lang="en-IN" sz="1900" dirty="0"/>
              <a:t>• Repeat-customer rate was approximately 3%.</a:t>
            </a:r>
          </a:p>
          <a:p>
            <a:r>
              <a:rPr lang="en-IN" sz="2200" b="1" dirty="0"/>
              <a:t>KEY INSIGHT</a:t>
            </a:r>
            <a:br>
              <a:rPr lang="en-IN" dirty="0"/>
            </a:br>
            <a:r>
              <a:rPr lang="en-IN" dirty="0"/>
              <a:t>• </a:t>
            </a:r>
            <a:r>
              <a:rPr lang="en-IN" sz="1900" dirty="0"/>
              <a:t>The analysis highlights sales trends, popular categories, and opportunities to improve customer retention.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87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9F81-F525-C284-DAC5-334AE5B2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049000" cy="1021223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rgbClr val="002060"/>
                </a:solidFill>
              </a:rPr>
              <a:t>Interactive Analytics Dashboard</a:t>
            </a:r>
            <a:br>
              <a:rPr lang="en-IN" sz="3000" b="1" dirty="0">
                <a:solidFill>
                  <a:srgbClr val="002060"/>
                </a:solidFill>
              </a:rPr>
            </a:br>
            <a:endParaRPr lang="en-IN" sz="3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CA6BB-BCF1-927A-2745-8AE5AE17A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DASHBOARD FEATURES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Displays key business performance indicators.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Visualizes monthly and yearly sales trends.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en-I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Analyzes</a:t>
            </a: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product category revenue and customer </a:t>
            </a:r>
            <a:r>
              <a:rPr lang="en-I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behavior</a:t>
            </a: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Summarizes payment methods and delivery performance.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Provides interactive filters for exploring the data</a:t>
            </a:r>
            <a:r>
              <a:rPr lang="en-IN" dirty="0"/>
              <a:t>.</a:t>
            </a:r>
          </a:p>
          <a:p>
            <a:r>
              <a:rPr lang="en-IN" b="1" dirty="0"/>
              <a:t>BUSINESS VALUE</a:t>
            </a:r>
          </a:p>
          <a:p>
            <a:pPr marL="0" indent="0">
              <a:buNone/>
            </a:pPr>
            <a:r>
              <a:rPr lang="en-IN" sz="1800" dirty="0"/>
              <a:t>• Helps users identify sales patterns and performance trends.</a:t>
            </a:r>
          </a:p>
          <a:p>
            <a:pPr marL="0" indent="0">
              <a:buNone/>
            </a:pPr>
            <a:r>
              <a:rPr lang="en-IN" sz="1800" dirty="0"/>
              <a:t>• Makes business insights easier to understand through visualizations.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203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C966-A152-65C0-9C2C-C5853911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b="1" dirty="0">
                <a:solidFill>
                  <a:srgbClr val="002060"/>
                </a:solidFill>
              </a:rPr>
              <a:t>Machine Learning Model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87CE-C40C-1DBA-FC58-6A539BAE4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65" y="1337187"/>
            <a:ext cx="10515600" cy="4731621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MODEL: RANDOM FOREST REGRESSOR</a:t>
            </a:r>
          </a:p>
          <a:p>
            <a:pPr marL="0" indent="0">
              <a:buNone/>
            </a:pP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OBJECTIVE</a:t>
            </a:r>
            <a:br>
              <a:rPr lang="en-IN" dirty="0"/>
            </a:b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Predict estimated delivery time in days.</a:t>
            </a:r>
          </a:p>
          <a:p>
            <a:pPr marL="0" indent="0">
              <a:buNone/>
            </a:pPr>
            <a:endParaRPr lang="en-IN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2400" b="1" dirty="0"/>
              <a:t>INPUT FEATURES</a:t>
            </a:r>
            <a:br>
              <a:rPr lang="en-IN" dirty="0"/>
            </a:b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Product ID</a:t>
            </a:r>
            <a:b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Seller ID</a:t>
            </a:r>
            <a:b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Product Price</a:t>
            </a:r>
            <a:b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Freight Value</a:t>
            </a:r>
            <a:b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Purchase Month</a:t>
            </a:r>
          </a:p>
          <a:p>
            <a:endParaRPr lang="en-IN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2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TARGET VARIABLE</a:t>
            </a:r>
            <a:br>
              <a:rPr lang="en-IN" dirty="0"/>
            </a:br>
            <a:r>
              <a:rPr lang="en-IN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Delivery Time (Days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sz="2400" b="1" dirty="0"/>
              <a:t>MODEL DEVELOPMENT</a:t>
            </a:r>
            <a:br>
              <a:rPr lang="en-IN" dirty="0"/>
            </a:br>
            <a:r>
              <a:rPr lang="en-IN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Prepared the dataset and selected relevant features.</a:t>
            </a:r>
            <a:br>
              <a:rPr lang="en-IN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Split the data into training and testing sets (80:20).</a:t>
            </a:r>
            <a:br>
              <a:rPr lang="en-IN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Trained the Random Forest Regressor on the training data.</a:t>
            </a:r>
            <a:br>
              <a:rPr lang="en-IN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Evaluated predictions using regression metrics.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52770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3FCE-0472-68E6-6EC6-318B76FE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IN" sz="3000" b="1" dirty="0">
                <a:solidFill>
                  <a:srgbClr val="002060"/>
                </a:solidFill>
              </a:rPr>
              <a:t>Model Evaluation &amp; Results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8880-CE05-B5B8-BF0D-41EAB03AB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589651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IN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PERFORMANCE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Mean Absolute Error (MAE): 5.03 days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Root Mean Squared Error (RMSE): 8.03 days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R² Score: 0.2613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b="1" dirty="0"/>
              <a:t>INTERPRETATION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The model's predictions differ from actual delivery times by about 5 days on average, based on MAE.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RMSE indicates that larger prediction errors have a greater impact on the evaluation.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The R² score indicates that the model explains a limited portion of the variation in delivery time.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POSSIBLE IMPROVEMENTS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Include additional relevant delivery-related features.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Improve feature engineering and data quality.</a:t>
            </a:r>
          </a:p>
          <a:p>
            <a:pPr marL="0" indent="0">
              <a:buNone/>
            </a:pPr>
            <a:r>
              <a:rPr lang="en-IN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Test other models and tune their parameters.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49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037A-D574-086D-FF28-195D490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b="1" dirty="0">
                <a:solidFill>
                  <a:srgbClr val="002060"/>
                </a:solidFill>
              </a:rPr>
              <a:t>Business Recommendations &amp; 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C20A-35A6-3DB2-5DEB-049430C75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RECOMMENDATIONS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Improve customer retention through loyalty programs and targeted offers.</a:t>
            </a:r>
          </a:p>
          <a:p>
            <a:pPr marL="0" indent="0">
              <a:buNone/>
            </a:pP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Monitor monthly sales trends to support better business planning.</a:t>
            </a:r>
          </a:p>
          <a:p>
            <a:pPr marL="0" indent="0">
              <a:buNone/>
            </a:pP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Review late deliveries and identify opportunities to improve logistics.</a:t>
            </a:r>
          </a:p>
          <a:p>
            <a:pPr marL="0" indent="0">
              <a:buNone/>
            </a:pP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Improve the prediction model by adding relevant features and testing alternative algorithms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 OUTCOMES</a:t>
            </a:r>
          </a:p>
          <a:p>
            <a:pPr marL="0" indent="0">
              <a:buNone/>
            </a:pP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</a:t>
            </a:r>
            <a:r>
              <a:rPr lang="en-IN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Analyzed</a:t>
            </a: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e-commerce sales, customers, products, and delivery performance.</a:t>
            </a:r>
          </a:p>
          <a:p>
            <a:pPr marL="0" indent="0">
              <a:buNone/>
            </a:pP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Developed interactive dashboards to communicate business insights.</a:t>
            </a:r>
          </a:p>
          <a:p>
            <a:pPr marL="0" indent="0">
              <a:buNone/>
            </a:pPr>
            <a:r>
              <a:rPr lang="en-IN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Built and evaluated a Machine Learning model for delivery-time prediction.</a:t>
            </a:r>
          </a:p>
          <a:p>
            <a:pPr marL="0" indent="0">
              <a:buNone/>
            </a:pPr>
            <a:r>
              <a:rPr lang="en-IN" sz="2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</a:p>
          <a:p>
            <a:pPr marL="0" indent="0">
              <a:buNone/>
            </a:pPr>
            <a:r>
              <a:rPr lang="en-IN" sz="2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project demonstrates how data analytics and predictive </a:t>
            </a:r>
            <a:r>
              <a:rPr lang="en-IN" sz="2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modeling</a:t>
            </a:r>
            <a:r>
              <a:rPr lang="en-IN" sz="2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can help e-commerce businesses understand performance and make more informed decisions.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                   </a:t>
            </a:r>
          </a:p>
          <a:p>
            <a:r>
              <a:rPr lang="en-IN" dirty="0"/>
              <a:t>                                                                                                                                    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490730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994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E-Commerce Customer Analytics &amp; Predictive Intelligence </vt:lpstr>
      <vt:lpstr>Project Overview </vt:lpstr>
      <vt:lpstr>Problem Statement &amp; Objectives </vt:lpstr>
      <vt:lpstr>Dataset Description </vt:lpstr>
      <vt:lpstr>Technologies Used </vt:lpstr>
      <vt:lpstr>Project Workflow </vt:lpstr>
      <vt:lpstr>Business KPIs &amp; Key Metrics </vt:lpstr>
      <vt:lpstr>Sales &amp; Customer Analysis </vt:lpstr>
      <vt:lpstr>Interactive Analytics Dashboard </vt:lpstr>
      <vt:lpstr>Machine Learning Model </vt:lpstr>
      <vt:lpstr>Model Evaluation &amp; Results </vt:lpstr>
      <vt:lpstr>Business Recommendations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manavgawale4@gmail.com</dc:creator>
  <cp:lastModifiedBy>manavgawale4@gmail.com</cp:lastModifiedBy>
  <cp:revision>1</cp:revision>
  <dcterms:created xsi:type="dcterms:W3CDTF">2026-10-10T07:45:49Z</dcterms:created>
  <dcterms:modified xsi:type="dcterms:W3CDTF">2026-10-10T08:37:54Z</dcterms:modified>
</cp:coreProperties>
</file>